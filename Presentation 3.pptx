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modernComment_100_68C49C6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4E104F-5722-46B7-88EC-995441D086CF}" name="sani14316sj@gmail.com" initials="sa" userId="4004dc5a6ebb611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B037E8-37F9-C40B-2327-33BD88CE35A1}" v="488" dt="2025-09-14T18:04:04.532"/>
    <p1510:client id="{68ABED38-DBFC-5517-BC65-594B6D9EB1B3}" v="3" dt="2025-09-14T17:24:14.561"/>
    <p1510:client id="{766E1561-2B00-45BA-ABC5-D5D7E0EBD8BD}" v="1" dt="2025-09-14T17:26:00.064"/>
    <p1510:client id="{8CE45B42-8BFC-45DC-ADCB-E91E50952086}" v="20" dt="2025-09-14T17:19:48.757"/>
    <p1510:client id="{9C6E1BC8-70AF-64AA-837B-DB21A652F3AE}" v="90" dt="2025-09-14T17:01:11.133"/>
    <p1510:client id="{B1DF5D37-8395-A9F1-EFF7-122C6509692B}" v="611" dt="2025-09-14T18:18:50.562"/>
    <p1510:client id="{BA52261E-B3A2-C8CE-0DF7-73E9A7F387AC}" v="37" dt="2025-09-14T18:14:53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omments/modernComment_100_68C49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A32139F-9A29-482A-9CF6-5B2A04193E37}" authorId="{2F4E104F-5722-46B7-88EC-995441D086CF}" created="2025-09-14T16:56:04.814">
    <pc:sldMkLst xmlns:pc="http://schemas.microsoft.com/office/powerpoint/2013/main/command">
      <pc:docMk/>
      <pc:sldMk cId="109857222" sldId="256"/>
    </pc:sldMkLst>
    <p188:txBody>
      <a:bodyPr/>
      <a:lstStyle/>
      <a:p>
        <a:r>
          <a:rPr lang="en-US"/>
          <a:t>background e kichu dibi naki dibi na?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1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08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0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0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9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0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78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7216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07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5059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99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26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3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71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68C49C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484" y="-717264"/>
            <a:ext cx="4299666" cy="324913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4000" u="sng">
                <a:solidFill>
                  <a:srgbClr val="FF0000"/>
                </a:solidFill>
                <a:latin typeface="Aptos Display"/>
              </a:rPr>
              <a:t>A MATLAB-Powered SMART FITNESS TRACKER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19938-2AA0-0695-4FB3-201870640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17" y="-166772"/>
            <a:ext cx="3765692" cy="37656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C71A04-E2C9-129E-121D-6EC38CD7D42C}"/>
              </a:ext>
            </a:extLst>
          </p:cNvPr>
          <p:cNvSpPr txBox="1"/>
          <p:nvPr/>
        </p:nvSpPr>
        <p:spPr>
          <a:xfrm>
            <a:off x="4196114" y="3865254"/>
            <a:ext cx="5758542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070C0"/>
                </a:solidFill>
              </a:rPr>
              <a:t>Team Name – AlgoRythms</a:t>
            </a:r>
          </a:p>
          <a:p>
            <a:endParaRPr lang="en-US" sz="2400">
              <a:solidFill>
                <a:srgbClr val="0070C0"/>
              </a:solidFill>
            </a:endParaRPr>
          </a:p>
          <a:p>
            <a:r>
              <a:rPr lang="en-US" sz="2000">
                <a:solidFill>
                  <a:srgbClr val="002060"/>
                </a:solidFill>
              </a:rPr>
              <a:t>Team Members -</a:t>
            </a:r>
            <a:r>
              <a:rPr lang="en-US" sz="2000"/>
              <a:t>  </a:t>
            </a:r>
            <a:r>
              <a:rPr lang="en-US" sz="2000">
                <a:solidFill>
                  <a:srgbClr val="C00000"/>
                </a:solidFill>
              </a:rPr>
              <a:t>1. Samiran Jana</a:t>
            </a:r>
          </a:p>
          <a:p>
            <a:r>
              <a:rPr lang="en-US" sz="2000">
                <a:solidFill>
                  <a:srgbClr val="C00000"/>
                </a:solidFill>
              </a:rPr>
              <a:t>                          2. Rajdeep Ray</a:t>
            </a:r>
          </a:p>
          <a:p>
            <a:r>
              <a:rPr lang="en-US" sz="2000">
                <a:solidFill>
                  <a:srgbClr val="C00000"/>
                </a:solidFill>
              </a:rPr>
              <a:t>                          3. Soumyadeep Datta</a:t>
            </a:r>
          </a:p>
          <a:p>
            <a:r>
              <a:rPr lang="en-US" sz="2000">
                <a:solidFill>
                  <a:srgbClr val="C00000"/>
                </a:solidFill>
              </a:rPr>
              <a:t>                          4. Susmit Thakur</a:t>
            </a:r>
          </a:p>
        </p:txBody>
      </p:sp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030A79EA-EF73-7D74-33EE-991710DD6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96" y="9234"/>
            <a:ext cx="1814370" cy="1274620"/>
          </a:xfrm>
          <a:prstGeom prst="rect">
            <a:avLst/>
          </a:prstGeom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B456B91C-1826-B741-AFED-C24B48B6B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8" y="5313205"/>
            <a:ext cx="2251365" cy="154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wrist watch with a black band&#10;&#10;AI-generated content may be incorrect.">
            <a:extLst>
              <a:ext uri="{FF2B5EF4-FFF2-40B4-BE49-F238E27FC236}">
                <a16:creationId xmlns:a16="http://schemas.microsoft.com/office/drawing/2014/main" id="{EAAC6FD6-D18F-E05A-93C1-A9EA2E92A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36" y="1187263"/>
            <a:ext cx="2514600" cy="2533650"/>
          </a:xfrm>
          <a:prstGeom prst="rect">
            <a:avLst/>
          </a:prstGeom>
        </p:spPr>
      </p:pic>
      <p:pic>
        <p:nvPicPr>
          <p:cNvPr id="4" name="Picture 3" descr="A person leaning on a exercise bike&#10;&#10;AI-generated content may be incorrect.">
            <a:extLst>
              <a:ext uri="{FF2B5EF4-FFF2-40B4-BE49-F238E27FC236}">
                <a16:creationId xmlns:a16="http://schemas.microsoft.com/office/drawing/2014/main" id="{38276F28-87CB-BFCA-8767-B1DB760D4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35" y="4030196"/>
            <a:ext cx="2517403" cy="23498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9A365D-E466-FD32-6E2A-8FB5FC680869}"/>
              </a:ext>
            </a:extLst>
          </p:cNvPr>
          <p:cNvSpPr txBox="1"/>
          <p:nvPr/>
        </p:nvSpPr>
        <p:spPr>
          <a:xfrm>
            <a:off x="3795336" y="1186417"/>
            <a:ext cx="5410078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CREATION OF OWN FITNESS TRACKER USING MATLAB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F502CB-C5AD-66D5-355F-0952D85FB54E}"/>
              </a:ext>
            </a:extLst>
          </p:cNvPr>
          <p:cNvSpPr txBox="1"/>
          <p:nvPr/>
        </p:nvSpPr>
        <p:spPr>
          <a:xfrm>
            <a:off x="3919547" y="2453413"/>
            <a:ext cx="5161656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 People today face </a:t>
            </a:r>
            <a:r>
              <a:rPr lang="en-US" sz="2000" i="1">
                <a:ea typeface="+mn-lt"/>
                <a:cs typeface="+mn-lt"/>
              </a:rPr>
              <a:t>sedentary lifestyles</a:t>
            </a:r>
            <a:r>
              <a:rPr lang="en-US" sz="2000">
                <a:ea typeface="+mn-lt"/>
                <a:cs typeface="+mn-lt"/>
              </a:rPr>
              <a:t> and </a:t>
            </a:r>
            <a:r>
              <a:rPr lang="en-US" sz="2000" i="1">
                <a:ea typeface="+mn-lt"/>
                <a:cs typeface="+mn-lt"/>
              </a:rPr>
              <a:t>rising health risks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 Existing fitness trackers are too costly or locked to premium ecosystems.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Many trackers give inaccurate results due to poor classification of activities.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Lack of affordable, data-driven alternatives accessible to everyone.</a:t>
            </a:r>
            <a:endParaRPr lang="en-US" sz="2000"/>
          </a:p>
          <a:p>
            <a:pPr algn="l"/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586AD-F706-3E4D-6168-16819773051F}"/>
              </a:ext>
            </a:extLst>
          </p:cNvPr>
          <p:cNvSpPr txBox="1"/>
          <p:nvPr/>
        </p:nvSpPr>
        <p:spPr>
          <a:xfrm>
            <a:off x="1422687" y="945"/>
            <a:ext cx="935780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000">
                <a:solidFill>
                  <a:schemeClr val="accent2">
                    <a:lumMod val="76000"/>
                  </a:schemeClr>
                </a:solidFill>
                <a:latin typeface="Rockwell"/>
              </a:rPr>
              <a:t>PROBLEM STATEMENT </a:t>
            </a:r>
          </a:p>
        </p:txBody>
      </p:sp>
    </p:spTree>
    <p:extLst>
      <p:ext uri="{BB962C8B-B14F-4D97-AF65-F5344CB8AC3E}">
        <p14:creationId xmlns:p14="http://schemas.microsoft.com/office/powerpoint/2010/main" val="58099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4A191C-C8AC-CE89-5C09-8B3FF6285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35" y="1255059"/>
            <a:ext cx="3451413" cy="40453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05954C-B755-4B89-3C30-53278BA12C2D}"/>
              </a:ext>
            </a:extLst>
          </p:cNvPr>
          <p:cNvSpPr txBox="1"/>
          <p:nvPr/>
        </p:nvSpPr>
        <p:spPr>
          <a:xfrm>
            <a:off x="1261783" y="-4482"/>
            <a:ext cx="8234082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000">
                <a:solidFill>
                  <a:srgbClr val="407A19"/>
                </a:solidFill>
                <a:latin typeface="Rockwell"/>
              </a:rPr>
              <a:t>OUR SOLUTION TO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5DA19-5BB4-C3CA-A00B-34050C650F42}"/>
              </a:ext>
            </a:extLst>
          </p:cNvPr>
          <p:cNvSpPr txBox="1"/>
          <p:nvPr/>
        </p:nvSpPr>
        <p:spPr>
          <a:xfrm>
            <a:off x="3827930" y="1261783"/>
            <a:ext cx="6743698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200"/>
              <a:t>AI-powered activity detection – recognizes walking, running, stairs, sitting.</a:t>
            </a:r>
          </a:p>
          <a:p>
            <a:pPr marL="228600" indent="-228600">
              <a:buFont typeface=""/>
              <a:buChar char="•"/>
            </a:pPr>
            <a:endParaRPr lang="en-US" sz="2200"/>
          </a:p>
          <a:p>
            <a:pPr marL="228600" indent="-228600">
              <a:buFont typeface=""/>
              <a:buChar char="•"/>
            </a:pPr>
            <a:r>
              <a:rPr lang="en-US" sz="2200"/>
              <a:t>Accurate insights – steps, distance (Haversine), flights climbed, calories burnt.</a:t>
            </a:r>
          </a:p>
          <a:p>
            <a:pPr marL="228600" indent="-228600">
              <a:buFont typeface=""/>
              <a:buChar char="•"/>
            </a:pPr>
            <a:endParaRPr lang="en-US" sz="2200"/>
          </a:p>
          <a:p>
            <a:pPr marL="228600" indent="-228600">
              <a:buFont typeface=""/>
              <a:buChar char="•"/>
            </a:pPr>
            <a:r>
              <a:rPr lang="en-US" sz="2200"/>
              <a:t>Sensor-driven analysis – accelerometer, GPS &amp; altitude combined.</a:t>
            </a:r>
          </a:p>
          <a:p>
            <a:pPr marL="228600" indent="-228600">
              <a:buFont typeface=""/>
              <a:buChar char="•"/>
            </a:pPr>
            <a:endParaRPr lang="en-US" sz="2200"/>
          </a:p>
          <a:p>
            <a:pPr marL="228600" indent="-228600">
              <a:buFont typeface=""/>
              <a:buChar char="•"/>
            </a:pPr>
            <a:r>
              <a:rPr lang="en-US" sz="2200"/>
              <a:t>Affordable &amp; scalable – works on smartphones, no costly wearables needed.</a:t>
            </a:r>
          </a:p>
        </p:txBody>
      </p:sp>
    </p:spTree>
    <p:extLst>
      <p:ext uri="{BB962C8B-B14F-4D97-AF65-F5344CB8AC3E}">
        <p14:creationId xmlns:p14="http://schemas.microsoft.com/office/powerpoint/2010/main" val="198522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achine&#10;&#10;AI-generated content may be incorrect.">
            <a:extLst>
              <a:ext uri="{FF2B5EF4-FFF2-40B4-BE49-F238E27FC236}">
                <a16:creationId xmlns:a16="http://schemas.microsoft.com/office/drawing/2014/main" id="{927CB25C-A1F8-241F-2671-65EC68006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09" y="1270000"/>
            <a:ext cx="4638260" cy="4627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7EEE14-C405-EA66-3FCB-0CAEEB430AC9}"/>
              </a:ext>
            </a:extLst>
          </p:cNvPr>
          <p:cNvSpPr txBox="1"/>
          <p:nvPr/>
        </p:nvSpPr>
        <p:spPr>
          <a:xfrm>
            <a:off x="450575" y="-2209"/>
            <a:ext cx="9501807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000">
                <a:solidFill>
                  <a:srgbClr val="407A19"/>
                </a:solidFill>
                <a:latin typeface="Rockwell"/>
              </a:rPr>
              <a:t>HOW OUR  TRACKER WORKS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02A5E-911F-4ED1-DA44-2F2D19889973}"/>
              </a:ext>
            </a:extLst>
          </p:cNvPr>
          <p:cNvSpPr txBox="1"/>
          <p:nvPr/>
        </p:nvSpPr>
        <p:spPr>
          <a:xfrm>
            <a:off x="4757531" y="1323009"/>
            <a:ext cx="584641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/>
              <a:t>Data Capture – real-time input from phone sensors.</a:t>
            </a:r>
          </a:p>
          <a:p>
            <a:pPr marL="228600" indent="-228600">
              <a:buFont typeface=""/>
              <a:buChar char="•"/>
            </a:pPr>
            <a:endParaRPr lang="en-US" sz="2400"/>
          </a:p>
          <a:p>
            <a:pPr marL="228600" indent="-228600">
              <a:buFont typeface=""/>
              <a:buChar char="•"/>
            </a:pPr>
            <a:r>
              <a:rPr lang="en-US" sz="2400"/>
              <a:t> Processing – vibrations + orientation analyzed to detect motion.</a:t>
            </a:r>
          </a:p>
          <a:p>
            <a:pPr marL="228600" indent="-228600">
              <a:buFont typeface=""/>
              <a:buChar char="•"/>
            </a:pPr>
            <a:endParaRPr lang="en-US" sz="2400"/>
          </a:p>
          <a:p>
            <a:pPr marL="228600" indent="-228600">
              <a:buFont typeface=""/>
              <a:buChar char="•"/>
            </a:pPr>
            <a:r>
              <a:rPr lang="en-US" sz="2400"/>
              <a:t>Algorithms – peak &amp; prominence for steps, Haversine for distance, altitude for stairs.</a:t>
            </a:r>
          </a:p>
          <a:p>
            <a:pPr marL="228600" indent="-228600">
              <a:buFont typeface=""/>
              <a:buChar char="•"/>
            </a:pPr>
            <a:endParaRPr lang="en-US" sz="2400"/>
          </a:p>
          <a:p>
            <a:pPr marL="228600" indent="-228600">
              <a:buFont typeface=""/>
              <a:buChar char="•"/>
            </a:pPr>
            <a:r>
              <a:rPr lang="en-US" sz="2400"/>
              <a:t>Output – health insights, visual reports, calorie tracking.</a:t>
            </a:r>
          </a:p>
        </p:txBody>
      </p:sp>
    </p:spTree>
    <p:extLst>
      <p:ext uri="{BB962C8B-B14F-4D97-AF65-F5344CB8AC3E}">
        <p14:creationId xmlns:p14="http://schemas.microsoft.com/office/powerpoint/2010/main" val="6696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device&#10;&#10;AI-generated content may be incorrect.">
            <a:extLst>
              <a:ext uri="{FF2B5EF4-FFF2-40B4-BE49-F238E27FC236}">
                <a16:creationId xmlns:a16="http://schemas.microsoft.com/office/drawing/2014/main" id="{BE5AF839-8423-E661-0B85-43652F496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423148"/>
            <a:ext cx="4000500" cy="4000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A68E7E-388B-600D-9AF3-CFC71A0FA3E1}"/>
              </a:ext>
            </a:extLst>
          </p:cNvPr>
          <p:cNvSpPr txBox="1"/>
          <p:nvPr/>
        </p:nvSpPr>
        <p:spPr>
          <a:xfrm>
            <a:off x="499783" y="-4482"/>
            <a:ext cx="9444317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000">
                <a:solidFill>
                  <a:srgbClr val="407A19"/>
                </a:solidFill>
                <a:latin typeface="Rockwell"/>
              </a:rPr>
              <a:t>WHAT MAKES US UNIQUE !</a:t>
            </a:r>
            <a:endParaRPr lang="en-US" sz="5000">
              <a:latin typeface="Rockwel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D0697-7973-3292-1FF7-3D23FF614C2A}"/>
              </a:ext>
            </a:extLst>
          </p:cNvPr>
          <p:cNvSpPr txBox="1"/>
          <p:nvPr/>
        </p:nvSpPr>
        <p:spPr>
          <a:xfrm>
            <a:off x="499782" y="1250576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Smart Step Counting</a:t>
            </a:r>
            <a:r>
              <a:rPr lang="en-US"/>
              <a:t> – peak &amp; prominence method for accurate results.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B8B23-12B2-28C0-92F4-2BCB71B6B296}"/>
              </a:ext>
            </a:extLst>
          </p:cNvPr>
          <p:cNvSpPr txBox="1"/>
          <p:nvPr/>
        </p:nvSpPr>
        <p:spPr>
          <a:xfrm>
            <a:off x="488576" y="2830606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Precise Distance Tracking</a:t>
            </a:r>
            <a:r>
              <a:rPr lang="en-US"/>
              <a:t> – Haversine formula for real-world accuracy.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6777F8-4333-A1F2-8641-F66F8A14346C}"/>
              </a:ext>
            </a:extLst>
          </p:cNvPr>
          <p:cNvSpPr txBox="1"/>
          <p:nvPr/>
        </p:nvSpPr>
        <p:spPr>
          <a:xfrm>
            <a:off x="488576" y="4758018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Stair Climb Detection</a:t>
            </a:r>
            <a:r>
              <a:rPr lang="en-US"/>
              <a:t> – altitude-based analysis, ignores small hills/noise.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E84F8F-F1E7-4AF1-D051-0C5697D714C9}"/>
              </a:ext>
            </a:extLst>
          </p:cNvPr>
          <p:cNvSpPr txBox="1"/>
          <p:nvPr/>
        </p:nvSpPr>
        <p:spPr>
          <a:xfrm>
            <a:off x="7032811" y="1250577"/>
            <a:ext cx="29000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Calorie Estimation</a:t>
            </a:r>
            <a:r>
              <a:rPr lang="en-US"/>
              <a:t> – MET-based, tailored by activity &amp; body weight.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9FC0F-CC9D-73EE-7407-8D9282AC9B26}"/>
              </a:ext>
            </a:extLst>
          </p:cNvPr>
          <p:cNvSpPr txBox="1"/>
          <p:nvPr/>
        </p:nvSpPr>
        <p:spPr>
          <a:xfrm>
            <a:off x="7044018" y="2841811"/>
            <a:ext cx="315781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Activity Fingerprinting</a:t>
            </a:r>
            <a:r>
              <a:rPr lang="en-US"/>
              <a:t> – unique intensity + shakiness ID for classification.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b="1"/>
              <a:t>Data Visualizations</a:t>
            </a:r>
            <a:r>
              <a:rPr lang="en-US"/>
              <a:t> – heat maps, step graphs, and activity clusters.</a:t>
            </a:r>
          </a:p>
        </p:txBody>
      </p:sp>
    </p:spTree>
    <p:extLst>
      <p:ext uri="{BB962C8B-B14F-4D97-AF65-F5344CB8AC3E}">
        <p14:creationId xmlns:p14="http://schemas.microsoft.com/office/powerpoint/2010/main" val="258952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men wearing suits and ties&#10;&#10;AI-generated content may be incorrect.">
            <a:extLst>
              <a:ext uri="{FF2B5EF4-FFF2-40B4-BE49-F238E27FC236}">
                <a16:creationId xmlns:a16="http://schemas.microsoft.com/office/drawing/2014/main" id="{E2B0B2B6-8595-ED37-C38D-0EA2BBB78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83" y="2871305"/>
            <a:ext cx="2230783" cy="229704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 descr="A group of logos on a white surface&#10;&#10;AI-generated content may be incorrect.">
            <a:extLst>
              <a:ext uri="{FF2B5EF4-FFF2-40B4-BE49-F238E27FC236}">
                <a16:creationId xmlns:a16="http://schemas.microsoft.com/office/drawing/2014/main" id="{0BEDECAE-2C71-15E4-F44C-3C05B05EE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216" y="2871305"/>
            <a:ext cx="2208698" cy="228600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Picture 6" descr="A graph with arrows pointing up&#10;&#10;AI-generated content may be incorrect.">
            <a:extLst>
              <a:ext uri="{FF2B5EF4-FFF2-40B4-BE49-F238E27FC236}">
                <a16:creationId xmlns:a16="http://schemas.microsoft.com/office/drawing/2014/main" id="{44123CFB-5EE8-1764-6E8C-7A7CEB3AA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218" y="2871304"/>
            <a:ext cx="2098262" cy="228600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E5A84E-A255-6DE3-960C-CDF037AB16CA}"/>
              </a:ext>
            </a:extLst>
          </p:cNvPr>
          <p:cNvSpPr txBox="1"/>
          <p:nvPr/>
        </p:nvSpPr>
        <p:spPr>
          <a:xfrm>
            <a:off x="1886227" y="152400"/>
            <a:ext cx="1030798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000">
                <a:solidFill>
                  <a:srgbClr val="407A19"/>
                </a:solidFill>
                <a:latin typeface="Rockwell"/>
              </a:rPr>
              <a:t>MARKET &amp; BRANDS</a:t>
            </a:r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2AF078-3685-4D34-4BDE-74E7FBDA2DF2}"/>
              </a:ext>
            </a:extLst>
          </p:cNvPr>
          <p:cNvCxnSpPr/>
          <p:nvPr/>
        </p:nvCxnSpPr>
        <p:spPr>
          <a:xfrm>
            <a:off x="4766986" y="1015785"/>
            <a:ext cx="2761" cy="400211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890493-C44C-02E2-A205-688B5F3D4889}"/>
              </a:ext>
            </a:extLst>
          </p:cNvPr>
          <p:cNvCxnSpPr/>
          <p:nvPr/>
        </p:nvCxnSpPr>
        <p:spPr>
          <a:xfrm>
            <a:off x="1358047" y="1413264"/>
            <a:ext cx="6922685" cy="8261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5BCD75B-5E2D-51DA-E52C-DD81A620D265}"/>
              </a:ext>
            </a:extLst>
          </p:cNvPr>
          <p:cNvSpPr/>
          <p:nvPr/>
        </p:nvSpPr>
        <p:spPr>
          <a:xfrm>
            <a:off x="1051612" y="1418793"/>
            <a:ext cx="841874" cy="10488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D64E0072-C91C-9473-5905-1D567FF7F754}"/>
              </a:ext>
            </a:extLst>
          </p:cNvPr>
          <p:cNvSpPr/>
          <p:nvPr/>
        </p:nvSpPr>
        <p:spPr>
          <a:xfrm>
            <a:off x="7865438" y="1418793"/>
            <a:ext cx="841874" cy="10488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C049B9B-1DF6-0F00-9CD1-D4BB418F04C5}"/>
              </a:ext>
            </a:extLst>
          </p:cNvPr>
          <p:cNvSpPr/>
          <p:nvPr/>
        </p:nvSpPr>
        <p:spPr>
          <a:xfrm>
            <a:off x="4397786" y="1418793"/>
            <a:ext cx="841874" cy="10488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B5C03C-0A66-E5C0-EA39-C81D5029774C}"/>
              </a:ext>
            </a:extLst>
          </p:cNvPr>
          <p:cNvSpPr txBox="1"/>
          <p:nvPr/>
        </p:nvSpPr>
        <p:spPr>
          <a:xfrm>
            <a:off x="693531" y="5501667"/>
            <a:ext cx="2389809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🎯 </a:t>
            </a:r>
            <a:r>
              <a:rPr lang="en-US" sz="1000" b="1"/>
              <a:t>Target Audience</a:t>
            </a:r>
          </a:p>
          <a:p>
            <a:pPr marL="228600" indent="-228600">
              <a:buFont typeface=""/>
              <a:buChar char="•"/>
            </a:pPr>
            <a:r>
              <a:rPr lang="en-US" sz="1000"/>
              <a:t>Health-conscious students &amp; professionals</a:t>
            </a:r>
          </a:p>
          <a:p>
            <a:pPr marL="228600" indent="-228600">
              <a:buFont typeface=""/>
              <a:buChar char="•"/>
            </a:pPr>
            <a:r>
              <a:rPr lang="en-US" sz="1000"/>
              <a:t>Fitness enthusiasts &amp; gym members</a:t>
            </a:r>
          </a:p>
          <a:p>
            <a:pPr marL="228600" indent="-228600">
              <a:buFont typeface=""/>
              <a:buChar char="•"/>
            </a:pPr>
            <a:r>
              <a:rPr lang="en-US" sz="1000"/>
              <a:t>Elderly users seeking daily activity tracking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0A0D7-A825-D849-2008-4DEEBCBC8D71}"/>
              </a:ext>
            </a:extLst>
          </p:cNvPr>
          <p:cNvSpPr txBox="1"/>
          <p:nvPr/>
        </p:nvSpPr>
        <p:spPr>
          <a:xfrm>
            <a:off x="3885095" y="5496769"/>
            <a:ext cx="269902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💰 </a:t>
            </a:r>
            <a:r>
              <a:rPr lang="en-US" sz="1000" b="1">
                <a:ea typeface="+mn-lt"/>
                <a:cs typeface="+mn-lt"/>
              </a:rPr>
              <a:t>Revenue Opportunities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Freemium app model (basic free, premium analytics)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B2B licensing for gyms, insurance, corporates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API integration for health/fitness platforms</a:t>
            </a:r>
            <a:endParaRPr lang="en-US"/>
          </a:p>
          <a:p>
            <a:endParaRPr lang="en-US" sz="1000"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0E7980-59FE-5C63-639C-0858055320C9}"/>
              </a:ext>
            </a:extLst>
          </p:cNvPr>
          <p:cNvSpPr txBox="1"/>
          <p:nvPr/>
        </p:nvSpPr>
        <p:spPr>
          <a:xfrm>
            <a:off x="6800573" y="5496768"/>
            <a:ext cx="2699027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🤝 </a:t>
            </a:r>
            <a:r>
              <a:rPr lang="en-US" sz="1000" b="1">
                <a:ea typeface="+mn-lt"/>
                <a:cs typeface="+mn-lt"/>
              </a:rPr>
              <a:t>Potential Partnerships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Fitness brands:</a:t>
            </a:r>
            <a:r>
              <a:rPr lang="en-US" sz="1000">
                <a:ea typeface="+mn-lt"/>
                <a:cs typeface="+mn-lt"/>
              </a:rPr>
              <a:t> Nike, Adidas, CultFit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Tech/Health apps:</a:t>
            </a:r>
            <a:r>
              <a:rPr lang="en-US" sz="1000">
                <a:ea typeface="+mn-lt"/>
                <a:cs typeface="+mn-lt"/>
              </a:rPr>
              <a:t> Fitbit, HealthifyMe, Apple Health, Google Fit</a:t>
            </a:r>
            <a:endParaRPr lang="en-US"/>
          </a:p>
          <a:p>
            <a:endParaRPr lang="en-US" sz="1000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609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running with graphics and graphics&#10;&#10;AI-generated content may be incorrect.">
            <a:extLst>
              <a:ext uri="{FF2B5EF4-FFF2-40B4-BE49-F238E27FC236}">
                <a16:creationId xmlns:a16="http://schemas.microsoft.com/office/drawing/2014/main" id="{98BBC393-EDC2-1B7D-1F9B-984012CBE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22293"/>
            <a:ext cx="4639236" cy="46392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E2568A-704D-C6F0-B9CD-081FF62A5F89}"/>
              </a:ext>
            </a:extLst>
          </p:cNvPr>
          <p:cNvSpPr txBox="1"/>
          <p:nvPr/>
        </p:nvSpPr>
        <p:spPr>
          <a:xfrm>
            <a:off x="1340224" y="163606"/>
            <a:ext cx="814443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000">
                <a:solidFill>
                  <a:srgbClr val="407A19"/>
                </a:solidFill>
                <a:latin typeface="Rockwell"/>
              </a:rPr>
              <a:t>CONCLUSION</a:t>
            </a:r>
            <a:endParaRPr lang="en-US" sz="5000">
              <a:latin typeface="Rockwel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099C7-809A-DDAF-375E-8CE5FA99FF83}"/>
              </a:ext>
            </a:extLst>
          </p:cNvPr>
          <p:cNvSpPr txBox="1"/>
          <p:nvPr/>
        </p:nvSpPr>
        <p:spPr>
          <a:xfrm>
            <a:off x="5033617" y="1323009"/>
            <a:ext cx="463163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i="1"/>
              <a:t>We built a smarter, affordable, and accurate fitness tracker.</a:t>
            </a:r>
          </a:p>
          <a:p>
            <a:pPr marL="228600" indent="-228600">
              <a:buFont typeface=""/>
              <a:buChar char="•"/>
            </a:pPr>
            <a:endParaRPr lang="en-US" i="1"/>
          </a:p>
          <a:p>
            <a:pPr marL="228600" indent="-228600">
              <a:buFont typeface=""/>
              <a:buChar char="•"/>
            </a:pPr>
            <a:r>
              <a:rPr lang="en-US"/>
              <a:t> </a:t>
            </a:r>
            <a:r>
              <a:rPr lang="en-US" i="1"/>
              <a:t>Scalable for individuals, gyms, and global brands.</a:t>
            </a:r>
          </a:p>
          <a:p>
            <a:pPr marL="228600" indent="-228600">
              <a:buFont typeface=""/>
              <a:buChar char="•"/>
            </a:pPr>
            <a:endParaRPr lang="en-US" i="1"/>
          </a:p>
          <a:p>
            <a:pPr marL="228600" indent="-228600">
              <a:buFont typeface=""/>
              <a:buChar char="•"/>
            </a:pPr>
            <a:r>
              <a:rPr lang="en-US" i="1"/>
              <a:t>Our vision: democratize health tracking for everyone.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B0FC0-61E5-CE21-58BF-3FC733E90006}"/>
              </a:ext>
            </a:extLst>
          </p:cNvPr>
          <p:cNvSpPr txBox="1"/>
          <p:nvPr/>
        </p:nvSpPr>
        <p:spPr>
          <a:xfrm>
            <a:off x="5203060" y="4443993"/>
            <a:ext cx="431978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“Let’s make fitness accessible, accurate, and inspiring.”</a:t>
            </a:r>
            <a:endParaRPr lang="en-US">
              <a:solidFill>
                <a:schemeClr val="accent2">
                  <a:lumMod val="76000"/>
                </a:schemeClr>
              </a:solidFill>
            </a:endParaRPr>
          </a:p>
          <a:p>
            <a:pPr algn="l"/>
            <a:endParaRPr lang="en-US" i="1">
              <a:solidFill>
                <a:schemeClr val="accent2">
                  <a:lumMod val="76000"/>
                </a:schemeClr>
              </a:solidFill>
            </a:endParaRPr>
          </a:p>
          <a:p>
            <a:r>
              <a:rPr lang="en-US" i="1">
                <a:solidFill>
                  <a:schemeClr val="accent2">
                    <a:lumMod val="76000"/>
                  </a:schemeClr>
                </a:solidFill>
              </a:rPr>
              <a:t>--THANK YOU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692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Facet</vt:lpstr>
      <vt:lpstr>A MATLAB-Powered SMART FITNESS TRACKER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</cp:revision>
  <dcterms:created xsi:type="dcterms:W3CDTF">2025-09-14T16:50:13Z</dcterms:created>
  <dcterms:modified xsi:type="dcterms:W3CDTF">2025-09-14T18:19:25Z</dcterms:modified>
</cp:coreProperties>
</file>